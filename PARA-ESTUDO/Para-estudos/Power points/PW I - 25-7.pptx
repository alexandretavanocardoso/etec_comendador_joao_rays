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68" r:id="rId1"/>
  </p:sldMasterIdLst>
  <p:sldIdLst>
    <p:sldId id="257" r:id="rId2"/>
    <p:sldId id="269" r:id="rId3"/>
    <p:sldId id="256" r:id="rId4"/>
    <p:sldId id="258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59" r:id="rId15"/>
    <p:sldId id="270" r:id="rId16"/>
    <p:sldId id="271" r:id="rId17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8"/>
      <p: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00"/>
    <a:srgbClr val="54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1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184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01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07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32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04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57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2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2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24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16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9BFA0-60E6-489D-A9C9-ECBFAEDDF1E3}" type="datetimeFigureOut">
              <a:rPr lang="pt-BR" smtClean="0"/>
              <a:t>25/07/2019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4B4A9-CFC3-4CCD-8E73-FC0805A124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5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A7EA7D8-7ED0-4C3A-BF33-67C882DEE8A2}"/>
              </a:ext>
            </a:extLst>
          </p:cNvPr>
          <p:cNvSpPr txBox="1"/>
          <p:nvPr/>
        </p:nvSpPr>
        <p:spPr>
          <a:xfrm>
            <a:off x="4714247" y="2966565"/>
            <a:ext cx="281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400" dirty="0" smtClean="0">
                <a:solidFill>
                  <a:srgbClr val="545454"/>
                </a:solidFill>
              </a:rPr>
              <a:t>25-07</a:t>
            </a:r>
            <a:endParaRPr lang="pt-BR" sz="2400" dirty="0">
              <a:solidFill>
                <a:srgbClr val="545454"/>
              </a:solidFill>
            </a:endParaRPr>
          </a:p>
          <a:p>
            <a:pPr algn="r"/>
            <a:r>
              <a:rPr lang="pt-BR" sz="2400" dirty="0">
                <a:solidFill>
                  <a:srgbClr val="545454"/>
                </a:solidFill>
              </a:rPr>
              <a:t>INTRODUÇÃO A WEB</a:t>
            </a:r>
          </a:p>
        </p:txBody>
      </p:sp>
    </p:spTree>
    <p:extLst>
      <p:ext uri="{BB962C8B-B14F-4D97-AF65-F5344CB8AC3E}">
        <p14:creationId xmlns:p14="http://schemas.microsoft.com/office/powerpoint/2010/main" val="170007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94" y="1854118"/>
            <a:ext cx="7886700" cy="824706"/>
          </a:xfrm>
        </p:spPr>
        <p:txBody>
          <a:bodyPr/>
          <a:lstStyle/>
          <a:p>
            <a:pPr algn="ctr"/>
            <a:r>
              <a:rPr lang="pt-BR" b="1" dirty="0" smtClean="0"/>
              <a:t>1 – COMANDOS HTML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54119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sz="3600" b="1" dirty="0">
                <a:solidFill>
                  <a:srgbClr val="FF5A00"/>
                </a:solidFill>
              </a:rPr>
              <a:t>O que são comandos em HTML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543048" y="1490018"/>
            <a:ext cx="63518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Podemos </a:t>
            </a:r>
            <a:r>
              <a:rPr lang="pt-BR" sz="2400" dirty="0"/>
              <a:t>definir como comandos HTML as marcações de início e de fim para inserção dos conteúdos das páginas da Web. Cada comando HTML, então desempenha uma função específica dentro da linguagem </a:t>
            </a:r>
            <a:r>
              <a:rPr lang="pt-BR" sz="2400" dirty="0" smtClean="0"/>
              <a:t>HTML.</a:t>
            </a: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33294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118931"/>
            <a:ext cx="7886700" cy="824706"/>
          </a:xfrm>
        </p:spPr>
        <p:txBody>
          <a:bodyPr/>
          <a:lstStyle/>
          <a:p>
            <a:pPr algn="ctr"/>
            <a:r>
              <a:rPr lang="pt-BR" sz="3600" b="1" dirty="0" smtClean="0">
                <a:solidFill>
                  <a:srgbClr val="FF5A00"/>
                </a:solidFill>
              </a:rPr>
              <a:t>HTML - Estrutura Básica</a:t>
            </a:r>
            <a:endParaRPr lang="pt-BR" sz="3600" b="1" dirty="0">
              <a:solidFill>
                <a:srgbClr val="FF5A0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860" y="1017767"/>
            <a:ext cx="5481950" cy="318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25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&lt;!DOCTYPE html&gt;</a:t>
            </a:r>
            <a:endParaRPr lang="pt-BR" sz="3600" b="1" dirty="0">
              <a:solidFill>
                <a:srgbClr val="FF5A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495340" y="1378699"/>
            <a:ext cx="63518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declaração de deve ser a primeira instrução em um documento HTML! Não se esqueça disso! Essa é a instrução para que o navegador saiba qual versão da linguagem de marcação está sendo utilizada (neste caso o HTML5). Somente assim a página será apresentada de forma correta.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463307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5" y="399029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&lt;html&gt; &lt;/html&gt;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543048" y="1490018"/>
            <a:ext cx="63518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elemento </a:t>
            </a:r>
            <a:r>
              <a:rPr lang="pt-BR" sz="2400" b="1" dirty="0"/>
              <a:t>html</a:t>
            </a:r>
            <a:r>
              <a:rPr lang="pt-BR" sz="2400" dirty="0"/>
              <a:t> é a raiz de um documento HTML. É pelo uso dele que conseguimos definir onde começa e termina um documento desse tipo. Sendo assim todo o conteúdo da página deverá estar contido entre a tag de abertura e de fechamento desse elemento.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663553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&lt;html lang="pt-br"&gt;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387927" y="1323040"/>
            <a:ext cx="63518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Melhora a pronúncia dos textos pelos leitores de tela.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Os buscadores podem indexar o website no buscador do respectivo idioma.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As fontes são selecionadas corretamente para serem apresentadas na tela.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Os navegadores podem escolher o dicionário de forma correta para correções gramaticais.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 navegador carrega a página mais rapidamente quando sabe qual é o idioma nativo na qual a foi escrita</a:t>
            </a:r>
            <a:r>
              <a:rPr lang="pt-BR" sz="2000" dirty="0" smtClean="0"/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738977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&lt;head&gt; &lt;/head&gt;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387927" y="1323040"/>
            <a:ext cx="6351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É a tag que define a “cabeça” do documento em HTML. Com essa tag é possível inserir informações a respeito da página.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9759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&lt;meta charset="utf-8" /&gt;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387927" y="1323040"/>
            <a:ext cx="63518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Esta linha de comando serve, basicamente então para estabelecer a codificação dos caracteres a serem apresentados pelo navegador. O valor “utf-8” (</a:t>
            </a:r>
            <a:r>
              <a:rPr lang="pt-BR" sz="2000" b="1" dirty="0"/>
              <a:t>8-bit Unicode Transformation Format</a:t>
            </a:r>
            <a:r>
              <a:rPr lang="pt-BR" sz="2000" dirty="0"/>
              <a:t> ou Formato de transformação Unicode de 8 bits) codifica os caracteres no sistema </a:t>
            </a:r>
            <a:r>
              <a:rPr lang="pt-BR" sz="2000" i="1" dirty="0"/>
              <a:t>UNICODE</a:t>
            </a:r>
            <a:r>
              <a:rPr lang="pt-BR" sz="2000" dirty="0"/>
              <a:t>, que é um sistema que permite aos computadores representar e manipular o texto de qualquer sistema de escrita.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96684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&lt;title&gt; &lt;/title&gt;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387926" y="1243527"/>
            <a:ext cx="63518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Essa tag define o título da sua página. Esse é o mesmo título que aparece na guia do navegador quando quando a página é carregada. Esse também é o título que descreve a página quando você a coloca em seus favoritos e será utilizada pelo </a:t>
            </a:r>
            <a:r>
              <a:rPr lang="pt-BR" sz="2400" b="1" dirty="0"/>
              <a:t>sistema de busca </a:t>
            </a:r>
            <a:r>
              <a:rPr lang="pt-BR" sz="2400" dirty="0"/>
              <a:t>como o texto do link que será apresentado ao usuário para que ele acesse o site.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474480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&lt;body&gt; &lt;/body&gt;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93913" y="1386651"/>
            <a:ext cx="67617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Entre a abertura e o fechamento desse comando você deve colocar todo o conteúdo que deseja apresentar aos usuários da web quando visitarem o sua página. Esse conteúdo pode ser vídeos, imagens, texto, áudio, jogos, etc</a:t>
            </a:r>
            <a:r>
              <a:rPr lang="pt-BR" sz="2000" dirty="0" smtClean="0"/>
              <a:t>.</a:t>
            </a:r>
          </a:p>
          <a:p>
            <a:endParaRPr lang="pt-BR" sz="2000" dirty="0"/>
          </a:p>
          <a:p>
            <a:r>
              <a:rPr lang="pt-BR" sz="2000" dirty="0"/>
              <a:t>O que fica dentro da tag "body" é que o navegador utiliza para montar a página que o usuário </a:t>
            </a:r>
            <a:r>
              <a:rPr lang="pt-BR" sz="2000" dirty="0" smtClean="0"/>
              <a:t>visualiza.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19597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&lt;h1&gt; &lt;/h1&gt;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93913" y="1386651"/>
            <a:ext cx="6761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Com a tag </a:t>
            </a:r>
            <a:r>
              <a:rPr lang="pt-BR" sz="2400" b="1" dirty="0"/>
              <a:t>h1 (heading ou cabeçalho) </a:t>
            </a:r>
            <a:r>
              <a:rPr lang="pt-BR" sz="2400" dirty="0"/>
              <a:t>é possível destacar o conteúdo do cabeçalho da página. Esse comando deixa o texto contido nele em destaque e com uma maior visibilidade.</a:t>
            </a:r>
          </a:p>
          <a:p>
            <a:r>
              <a:rPr lang="pt-BR" sz="2400" dirty="0"/>
              <a:t>Uma característica </a:t>
            </a:r>
            <a:r>
              <a:rPr lang="pt-BR" sz="2400" dirty="0" smtClean="0"/>
              <a:t>do </a:t>
            </a:r>
            <a:r>
              <a:rPr lang="pt-BR" sz="2400" dirty="0"/>
              <a:t>comando </a:t>
            </a:r>
            <a:r>
              <a:rPr lang="pt-BR" sz="2400" b="1" dirty="0"/>
              <a:t>h1</a:t>
            </a:r>
            <a:r>
              <a:rPr lang="pt-BR" sz="2400" dirty="0"/>
              <a:t> é que na verdade ele pode ser subdividido em 6 níveis.</a:t>
            </a:r>
          </a:p>
        </p:txBody>
      </p:sp>
    </p:spTree>
    <p:extLst>
      <p:ext uri="{BB962C8B-B14F-4D97-AF65-F5344CB8AC3E}">
        <p14:creationId xmlns:p14="http://schemas.microsoft.com/office/powerpoint/2010/main" val="1159645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4" y="319516"/>
            <a:ext cx="7886700" cy="824706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FF5A00"/>
                </a:solidFill>
              </a:rPr>
              <a:t>&lt;p&gt; &lt;/p&gt;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993913" y="1386651"/>
            <a:ext cx="67617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/>
              <a:t>Imagine que você deseja apresentar parágrafos com textos diversos em sua página. </a:t>
            </a:r>
            <a:r>
              <a:rPr lang="pt-BR" sz="2400" dirty="0"/>
              <a:t>Isso é possível utilizando o comando "</a:t>
            </a:r>
            <a:r>
              <a:rPr lang="pt-BR" sz="2400" b="1" dirty="0"/>
              <a:t>p" (paragráfo) </a:t>
            </a:r>
            <a:r>
              <a:rPr lang="pt-BR" sz="2400" dirty="0"/>
              <a:t>. Entre as tags de abertura e de fechamento desse comando você pode colocar todo o texto do parágrafo.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344299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2638" y="238539"/>
            <a:ext cx="4269850" cy="4174434"/>
          </a:xfrm>
        </p:spPr>
        <p:txBody>
          <a:bodyPr>
            <a:noAutofit/>
          </a:bodyPr>
          <a:lstStyle/>
          <a:p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 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head&gt;</a:t>
            </a:r>
            <a:b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&lt;</a:t>
            </a:r>
            <a:r>
              <a:rPr lang="pt-B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title&gt;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Page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pt-B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&lt;/title&gt;</a:t>
            </a:r>
            <a:br>
              <a:rPr lang="pt-B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 charset="utf-8"/&gt;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Este é um </a:t>
            </a:r>
            <a:r>
              <a:rPr lang="pt-B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cabeçalho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h1&gt;</a:t>
            </a:r>
            <a:b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Este é um parágrafo.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Este é outro parágrafo.</a:t>
            </a: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b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  <a:b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r>
              <a:rPr lang="pt-BR" sz="1800" dirty="0"/>
              <a:t/>
            </a:r>
            <a:br>
              <a:rPr lang="pt-BR" sz="1800" dirty="0"/>
            </a:br>
            <a:endParaRPr lang="pt-BR" sz="18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096" y="1076283"/>
            <a:ext cx="4162753" cy="2498946"/>
          </a:xfrm>
          <a:prstGeom prst="rect">
            <a:avLst/>
          </a:prstGeom>
        </p:spPr>
      </p:pic>
      <p:cxnSp>
        <p:nvCxnSpPr>
          <p:cNvPr id="10" name="Conector reto 9"/>
          <p:cNvCxnSpPr/>
          <p:nvPr/>
        </p:nvCxnSpPr>
        <p:spPr>
          <a:xfrm>
            <a:off x="4619708" y="397565"/>
            <a:ext cx="0" cy="3689405"/>
          </a:xfrm>
          <a:prstGeom prst="line">
            <a:avLst/>
          </a:prstGeom>
          <a:ln w="12700">
            <a:solidFill>
              <a:srgbClr val="FF5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778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68E3975-7E45-4F4B-9D48-E22275E9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94" y="1854118"/>
            <a:ext cx="7886700" cy="824706"/>
          </a:xfrm>
        </p:spPr>
        <p:txBody>
          <a:bodyPr/>
          <a:lstStyle/>
          <a:p>
            <a:pPr algn="ctr"/>
            <a:r>
              <a:rPr lang="pt-BR" b="1" dirty="0" smtClean="0"/>
              <a:t>2 – SALVANDO O DOCUMENTO HTML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80765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308" y="405516"/>
            <a:ext cx="5872891" cy="3748957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18052" y="485030"/>
            <a:ext cx="2282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5A00"/>
                </a:solidFill>
              </a:rPr>
              <a:t>Local </a:t>
            </a:r>
            <a:r>
              <a:rPr lang="pt-BR" dirty="0" smtClean="0">
                <a:sym typeface="Wingdings" panose="05000000000000000000" pitchFamily="2" charset="2"/>
              </a:rPr>
              <a:t> Pasta onde será salvo o documento.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r>
              <a:rPr lang="pt-BR" dirty="0" smtClean="0">
                <a:solidFill>
                  <a:srgbClr val="FF5A00"/>
                </a:solidFill>
                <a:sym typeface="Wingdings" panose="05000000000000000000" pitchFamily="2" charset="2"/>
              </a:rPr>
              <a:t>Nome </a:t>
            </a:r>
            <a:r>
              <a:rPr lang="pt-BR" dirty="0" smtClean="0">
                <a:sym typeface="Wingdings" panose="05000000000000000000" pitchFamily="2" charset="2"/>
              </a:rPr>
              <a:t> Nome do Arquivo HTML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r>
              <a:rPr lang="pt-BR" dirty="0" smtClean="0">
                <a:solidFill>
                  <a:srgbClr val="FF5A00"/>
                </a:solidFill>
                <a:sym typeface="Wingdings" panose="05000000000000000000" pitchFamily="2" charset="2"/>
              </a:rPr>
              <a:t>Tipo</a:t>
            </a:r>
            <a:r>
              <a:rPr lang="pt-BR" dirty="0" smtClean="0">
                <a:sym typeface="Wingdings" panose="05000000000000000000" pitchFamily="2" charset="2"/>
              </a:rPr>
              <a:t>  Não é preciso informar em alguns editores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493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Tema do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</TotalTime>
  <Words>491</Words>
  <Application>Microsoft Office PowerPoint</Application>
  <PresentationFormat>Apresentação na tela (16:9)</PresentationFormat>
  <Paragraphs>38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Courier New</vt:lpstr>
      <vt:lpstr>Calibri Light</vt:lpstr>
      <vt:lpstr>Wingdings</vt:lpstr>
      <vt:lpstr>Calibri</vt:lpstr>
      <vt:lpstr>Tema do Office</vt:lpstr>
      <vt:lpstr>Apresentação do PowerPoint</vt:lpstr>
      <vt:lpstr>1 – COMANDOS HTML</vt:lpstr>
      <vt:lpstr>O que são comandos em HTML</vt:lpstr>
      <vt:lpstr>HTML - Estrutura Básica</vt:lpstr>
      <vt:lpstr>&lt;!DOCTYPE html&gt;</vt:lpstr>
      <vt:lpstr>&lt;html&gt; &lt;/html&gt; </vt:lpstr>
      <vt:lpstr>&lt;html lang="pt-br"&gt;</vt:lpstr>
      <vt:lpstr>&lt;head&gt; &lt;/head&gt;</vt:lpstr>
      <vt:lpstr>&lt;meta charset="utf-8" /&gt;</vt:lpstr>
      <vt:lpstr>&lt;title&gt; &lt;/title&gt;</vt:lpstr>
      <vt:lpstr>&lt;body&gt; &lt;/body&gt;</vt:lpstr>
      <vt:lpstr>&lt;h1&gt; &lt;/h1&gt;</vt:lpstr>
      <vt:lpstr>&lt;p&gt; &lt;/p&gt;</vt:lpstr>
      <vt:lpstr>&lt;!DOCTYPE html&gt;   &lt;html&gt;   &lt;head&gt;   &lt;title&gt;Page Title&lt;/title&gt;   &lt;meta charset="utf-8"/&gt;  &lt;/head&gt;  &lt;body&gt;    &lt;h1&gt;Este é um cabeçalho&lt;/h1&gt;  &lt;p&gt;Este é um parágrafo.&lt;/p&gt;  &lt;p&gt;Este é outro parágrafo.&lt;/p&gt;   &lt;/body&gt; &lt;/html&gt; </vt:lpstr>
      <vt:lpstr>2 – SALVANDO O DOCUMENTO HTML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Marcio Jesus de Morais</dc:creator>
  <cp:lastModifiedBy>Marcio Jesus de Morais</cp:lastModifiedBy>
  <cp:revision>74</cp:revision>
  <dcterms:created xsi:type="dcterms:W3CDTF">2019-07-22T20:38:48Z</dcterms:created>
  <dcterms:modified xsi:type="dcterms:W3CDTF">2019-07-25T20:15:33Z</dcterms:modified>
</cp:coreProperties>
</file>